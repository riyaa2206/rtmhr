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1"/>
  </p:notesMasterIdLst>
  <p:handoutMasterIdLst>
    <p:handoutMasterId r:id="rId12"/>
  </p:handoutMasterIdLst>
  <p:sldIdLst>
    <p:sldId id="531" r:id="rId2"/>
    <p:sldId id="289" r:id="rId3"/>
    <p:sldId id="292" r:id="rId4"/>
    <p:sldId id="294" r:id="rId5"/>
    <p:sldId id="298" r:id="rId6"/>
    <p:sldId id="532" r:id="rId7"/>
    <p:sldId id="533" r:id="rId8"/>
    <p:sldId id="307" r:id="rId9"/>
    <p:sldId id="301" r:id="rId10"/>
  </p:sldIdLst>
  <p:sldSz cx="12192000" cy="6858000"/>
  <p:notesSz cx="6858000" cy="9144000"/>
  <p:embeddedFontLst>
    <p:embeddedFont>
      <p:font typeface="Aharoni" panose="02010803020104030203" pitchFamily="2" charset="-79"/>
      <p:bold r:id="rId13"/>
    </p:embeddedFont>
    <p:embeddedFont>
      <p:font typeface="Montserrat" panose="00000500000000000000" pitchFamily="2" charset="0"/>
      <p:regular r:id="rId14"/>
      <p:bold r:id="rId15"/>
      <p:italic r:id="rId16"/>
      <p:boldItalic r:id="rId17"/>
    </p:embeddedFont>
    <p:embeddedFont>
      <p:font typeface="Montserrat Medium" panose="00000600000000000000" pitchFamily="2" charset="0"/>
      <p:regular r:id="rId18"/>
      <p:italic r:id="rId19"/>
    </p:embeddedFont>
    <p:embeddedFont>
      <p:font typeface="Open Sans" panose="020B0606030504020204" pitchFamily="34" charset="0"/>
      <p:regular r:id="rId20"/>
      <p:bold r:id="rId21"/>
      <p:italic r:id="rId22"/>
      <p:boldItalic r:id="rId23"/>
    </p:embeddedFont>
    <p:embeddedFont>
      <p:font typeface="Plus Jakarta Sans" panose="020B0604020202020204" charset="0"/>
      <p:regular r:id="rId24"/>
      <p:bold r:id="rId25"/>
      <p:italic r:id="rId26"/>
      <p:boldItalic r:id="rId27"/>
    </p:embeddedFont>
    <p:embeddedFont>
      <p:font typeface="Poppins SemiBold" panose="00000700000000000000" pitchFamily="2" charset="0"/>
      <p:regular r:id="rId28"/>
      <p:bold r:id="rId29"/>
      <p:italic r:id="rId30"/>
      <p:boldItalic r:id="rId31"/>
    </p:embeddedFont>
    <p:embeddedFont>
      <p:font typeface="Verdana" panose="020B0604030504040204" pitchFamily="34" charset="0"/>
      <p:regular r:id="rId32"/>
      <p:bold r:id="rId33"/>
      <p:italic r:id="rId34"/>
      <p:boldItalic r:id="rId35"/>
    </p:embeddedFont>
  </p:embeddedFontLst>
  <p:custDataLst>
    <p:tags r:id="rId3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21" Type="http://schemas.openxmlformats.org/officeDocument/2006/relationships/font" Target="fonts/font9.fntdata"/><Relationship Id="rId34" Type="http://schemas.openxmlformats.org/officeDocument/2006/relationships/font" Target="fonts/font22.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2.fntdata"/><Relationship Id="rId32" Type="http://schemas.openxmlformats.org/officeDocument/2006/relationships/font" Target="fonts/font20.fntdata"/><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tags" Target="tags/tag1.xml"/><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font" Target="fonts/font2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Start Date</c:v>
                </c:pt>
              </c:strCache>
            </c:strRef>
          </c:tx>
          <c:spPr>
            <a:noFill/>
            <a:ln>
              <a:noFill/>
            </a:ln>
            <a:effectLst/>
          </c:spPr>
          <c:invertIfNegative val="0"/>
          <c:cat>
            <c:strRef>
              <c:f>Sheet1!$A$2:$A$12</c:f>
              <c:strCache>
                <c:ptCount val="11"/>
                <c:pt idx="0">
                  <c:v>Topic Finalization &amp; Problem Identification</c:v>
                </c:pt>
                <c:pt idx="1">
                  <c:v>Literature Survey</c:v>
                </c:pt>
                <c:pt idx="2">
                  <c:v>Design of Routing Protocol</c:v>
                </c:pt>
                <c:pt idx="3">
                  <c:v>Review 1 (Presentation)</c:v>
                </c:pt>
                <c:pt idx="4">
                  <c:v>NS3 Implementation (Phase 1)</c:v>
                </c:pt>
                <c:pt idx="5">
                  <c:v>Testing &amp; Performance Evaluation</c:v>
                </c:pt>
                <c:pt idx="6">
                  <c:v>Optimization &amp; Improvements</c:v>
                </c:pt>
                <c:pt idx="7">
                  <c:v>Review 2 (Progress Evaluation)</c:v>
                </c:pt>
                <c:pt idx="8">
                  <c:v>Documentation &amp; Report Writing</c:v>
                </c:pt>
                <c:pt idx="9">
                  <c:v>Final Review Preparation</c:v>
                </c:pt>
                <c:pt idx="10">
                  <c:v>Final Submission</c:v>
                </c:pt>
              </c:strCache>
            </c:strRef>
          </c:cat>
          <c:val>
            <c:numRef>
              <c:f>Sheet1!$B$2:$B$12</c:f>
              <c:numCache>
                <c:formatCode>d\-mmm\-yy</c:formatCode>
                <c:ptCount val="11"/>
                <c:pt idx="0">
                  <c:v>45898</c:v>
                </c:pt>
                <c:pt idx="1">
                  <c:v>45906</c:v>
                </c:pt>
                <c:pt idx="2">
                  <c:v>45916</c:v>
                </c:pt>
                <c:pt idx="3">
                  <c:v>45925</c:v>
                </c:pt>
                <c:pt idx="4">
                  <c:v>45927</c:v>
                </c:pt>
                <c:pt idx="5">
                  <c:v>45946</c:v>
                </c:pt>
                <c:pt idx="6">
                  <c:v>45956</c:v>
                </c:pt>
                <c:pt idx="7">
                  <c:v>45962</c:v>
                </c:pt>
                <c:pt idx="8">
                  <c:v>45963</c:v>
                </c:pt>
                <c:pt idx="9">
                  <c:v>45971</c:v>
                </c:pt>
                <c:pt idx="10">
                  <c:v>45973</c:v>
                </c:pt>
              </c:numCache>
            </c:numRef>
          </c:val>
          <c:extLst>
            <c:ext xmlns:c16="http://schemas.microsoft.com/office/drawing/2014/chart" uri="{C3380CC4-5D6E-409C-BE32-E72D297353CC}">
              <c16:uniqueId val="{00000000-67DC-4D79-8C20-6D88F1097BA1}"/>
            </c:ext>
          </c:extLst>
        </c:ser>
        <c:ser>
          <c:idx val="1"/>
          <c:order val="1"/>
          <c:tx>
            <c:strRef>
              <c:f>Sheet1!$D$1</c:f>
              <c:strCache>
                <c:ptCount val="1"/>
                <c:pt idx="0">
                  <c:v>Duration</c:v>
                </c:pt>
              </c:strCache>
            </c:strRef>
          </c:tx>
          <c:spPr>
            <a:solidFill>
              <a:schemeClr val="accent2">
                <a:lumMod val="75000"/>
              </a:schemeClr>
            </a:solidFill>
            <a:ln>
              <a:noFill/>
            </a:ln>
            <a:effectLst/>
          </c:spPr>
          <c:invertIfNegative val="0"/>
          <c:cat>
            <c:strRef>
              <c:f>Sheet1!$A$2:$A$12</c:f>
              <c:strCache>
                <c:ptCount val="11"/>
                <c:pt idx="0">
                  <c:v>Topic Finalization &amp; Problem Identification</c:v>
                </c:pt>
                <c:pt idx="1">
                  <c:v>Literature Survey</c:v>
                </c:pt>
                <c:pt idx="2">
                  <c:v>Design of Routing Protocol</c:v>
                </c:pt>
                <c:pt idx="3">
                  <c:v>Review 1 (Presentation)</c:v>
                </c:pt>
                <c:pt idx="4">
                  <c:v>NS3 Implementation (Phase 1)</c:v>
                </c:pt>
                <c:pt idx="5">
                  <c:v>Testing &amp; Performance Evaluation</c:v>
                </c:pt>
                <c:pt idx="6">
                  <c:v>Optimization &amp; Improvements</c:v>
                </c:pt>
                <c:pt idx="7">
                  <c:v>Review 2 (Progress Evaluation)</c:v>
                </c:pt>
                <c:pt idx="8">
                  <c:v>Documentation &amp; Report Writing</c:v>
                </c:pt>
                <c:pt idx="9">
                  <c:v>Final Review Preparation</c:v>
                </c:pt>
                <c:pt idx="10">
                  <c:v>Final Submission</c:v>
                </c:pt>
              </c:strCache>
            </c:strRef>
          </c:cat>
          <c:val>
            <c:numRef>
              <c:f>Sheet1!$D$2:$D$12</c:f>
              <c:numCache>
                <c:formatCode>General</c:formatCode>
                <c:ptCount val="11"/>
                <c:pt idx="0">
                  <c:v>7</c:v>
                </c:pt>
                <c:pt idx="1">
                  <c:v>9</c:v>
                </c:pt>
                <c:pt idx="2">
                  <c:v>9</c:v>
                </c:pt>
                <c:pt idx="3">
                  <c:v>1</c:v>
                </c:pt>
                <c:pt idx="4">
                  <c:v>18</c:v>
                </c:pt>
                <c:pt idx="5">
                  <c:v>9</c:v>
                </c:pt>
                <c:pt idx="6">
                  <c:v>5</c:v>
                </c:pt>
                <c:pt idx="7">
                  <c:v>1</c:v>
                </c:pt>
                <c:pt idx="8">
                  <c:v>7</c:v>
                </c:pt>
                <c:pt idx="9">
                  <c:v>1</c:v>
                </c:pt>
                <c:pt idx="10">
                  <c:v>2</c:v>
                </c:pt>
              </c:numCache>
            </c:numRef>
          </c:val>
          <c:extLst>
            <c:ext xmlns:c16="http://schemas.microsoft.com/office/drawing/2014/chart" uri="{C3380CC4-5D6E-409C-BE32-E72D297353CC}">
              <c16:uniqueId val="{00000001-67DC-4D79-8C20-6D88F1097BA1}"/>
            </c:ext>
          </c:extLst>
        </c:ser>
        <c:dLbls>
          <c:showLegendKey val="0"/>
          <c:showVal val="0"/>
          <c:showCatName val="0"/>
          <c:showSerName val="0"/>
          <c:showPercent val="0"/>
          <c:showBubbleSize val="0"/>
        </c:dLbls>
        <c:gapWidth val="150"/>
        <c:overlap val="100"/>
        <c:axId val="1830916143"/>
        <c:axId val="1830916623"/>
      </c:barChart>
      <c:catAx>
        <c:axId val="1830916143"/>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830916623"/>
        <c:crosses val="autoZero"/>
        <c:auto val="1"/>
        <c:lblAlgn val="ctr"/>
        <c:lblOffset val="100"/>
        <c:noMultiLvlLbl val="0"/>
      </c:catAx>
      <c:valAx>
        <c:axId val="1830916623"/>
        <c:scaling>
          <c:orientation val="minMax"/>
          <c:max val="45975"/>
          <c:min val="45895"/>
        </c:scaling>
        <c:delete val="0"/>
        <c:axPos val="t"/>
        <c:majorGridlines>
          <c:spPr>
            <a:ln w="9525" cap="flat" cmpd="sng" algn="ctr">
              <a:solidFill>
                <a:schemeClr val="accent1">
                  <a:shade val="95000"/>
                  <a:satMod val="105000"/>
                </a:schemeClr>
              </a:solidFill>
              <a:prstDash val="solid"/>
              <a:round/>
            </a:ln>
            <a:effectLst/>
          </c:spPr>
        </c:majorGridlines>
        <c:numFmt formatCode="d\-mmm\-yy"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8309161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24-11-2025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dirty="0"/>
              <a:t>(Ad hoc On-Demand Distance Vector</a:t>
            </a:r>
            <a:endParaRPr dirty="0"/>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679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Plus Jakarta Sans"/>
                <a:ea typeface="Plus Jakarta Sans"/>
                <a:cs typeface="Plus Jakarta Sans"/>
                <a:sym typeface="Plus Jakarta Sans"/>
              </a:rPr>
              <a:t>5</a:t>
            </a:fld>
            <a:endParaRPr lang="en-US" sz="1200" b="0" i="0" u="none" strike="noStrike" cap="none">
              <a:solidFill>
                <a:schemeClr val="dk1"/>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2754411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Plus Jakarta Sans"/>
                <a:ea typeface="Plus Jakarta Sans"/>
                <a:cs typeface="Plus Jakarta Sans"/>
                <a:sym typeface="Plus Jakarta Sans"/>
              </a:rPr>
              <a:t>6</a:t>
            </a:fld>
            <a:endParaRPr lang="en-US" sz="1200" b="0" i="0" u="none" strike="noStrike" cap="none">
              <a:solidFill>
                <a:schemeClr val="dk1"/>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3757484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03EF4-0391-61DC-B706-BD74B9817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5EE80-BC7C-35F5-15D4-725BC10F58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F31D3F-6C44-060F-6C64-7341F718AF3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9355C83-9875-4F92-2F2A-86BAA95CB67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Plus Jakarta Sans"/>
                <a:ea typeface="Plus Jakarta Sans"/>
                <a:cs typeface="Plus Jakarta Sans"/>
                <a:sym typeface="Plus Jakarta Sans"/>
              </a:rPr>
              <a:t>7</a:t>
            </a:fld>
            <a:endParaRPr lang="en-US" sz="1200" b="0" i="0" u="none" strike="noStrike" cap="none">
              <a:solidFill>
                <a:schemeClr val="dk1"/>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783754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project successfully demonstrates the design and implementation of an </a:t>
            </a:r>
            <a:r>
              <a:rPr lang="en-US" b="1" dirty="0"/>
              <a:t>optimized multi-hop wireless routing protocol</a:t>
            </a:r>
            <a:r>
              <a:rPr lang="en-US" dirty="0"/>
              <a:t> aimed at reliable, energy-efficient real-time communication in dynamic networks.</a:t>
            </a:r>
          </a:p>
          <a:p>
            <a:r>
              <a:rPr lang="en-US" dirty="0"/>
              <a:t>Our </a:t>
            </a:r>
            <a:r>
              <a:rPr lang="en-US" b="1" dirty="0"/>
              <a:t>NS-3 simulations</a:t>
            </a:r>
            <a:r>
              <a:rPr lang="en-US" dirty="0"/>
              <a:t> show that the protocol can handle frequent topology changes while maintaining acceptable performance in terms of latency and packet delivery.</a:t>
            </a:r>
          </a:p>
          <a:p>
            <a:r>
              <a:rPr lang="en-US" dirty="0"/>
              <a:t>However, we also acknowledge that </a:t>
            </a:r>
            <a:r>
              <a:rPr lang="en-US" b="1" dirty="0"/>
              <a:t>current results do not yet surpass all state-of-the-art protocols</a:t>
            </a:r>
            <a:r>
              <a:rPr lang="en-US" dirty="0"/>
              <a:t>, which indicates the need for further improvements.</a:t>
            </a:r>
          </a:p>
          <a:p>
            <a:r>
              <a:rPr lang="en-US" b="1" dirty="0"/>
              <a:t>Future Work</a:t>
            </a:r>
            <a:r>
              <a:rPr lang="en-US" dirty="0"/>
              <a:t> will focus on:</a:t>
            </a:r>
          </a:p>
          <a:p>
            <a:r>
              <a:rPr lang="en-US" dirty="0"/>
              <a:t>Introducing </a:t>
            </a:r>
            <a:r>
              <a:rPr lang="en-US" b="1" dirty="0"/>
              <a:t>advanced route selection metrics</a:t>
            </a:r>
            <a:r>
              <a:rPr lang="en-US" dirty="0"/>
              <a:t> such as link stability and congestion awareness.</a:t>
            </a:r>
          </a:p>
          <a:p>
            <a:r>
              <a:rPr lang="en-US" dirty="0"/>
              <a:t>Expanding tests to </a:t>
            </a:r>
            <a:r>
              <a:rPr lang="en-US" b="1" dirty="0"/>
              <a:t>larger and more heterogeneous networks</a:t>
            </a:r>
            <a:r>
              <a:rPr lang="en-US" dirty="0"/>
              <a:t> to evaluate scalability.</a:t>
            </a:r>
          </a:p>
          <a:p>
            <a:r>
              <a:rPr lang="en-US" dirty="0"/>
              <a:t>Ultimately, refining the protocol so that it consistently </a:t>
            </a:r>
            <a:r>
              <a:rPr lang="en-US" b="1" dirty="0"/>
              <a:t>outperforms existing solutions in throughput, latency, and reliability</a:t>
            </a:r>
            <a:r>
              <a:rPr lang="en-US" dirty="0"/>
              <a:t>, making it suitable for </a:t>
            </a:r>
            <a:r>
              <a:rPr lang="en-US" b="1" dirty="0"/>
              <a:t>real-world deployment</a:t>
            </a:r>
            <a:r>
              <a:rPr lang="en-US" dirty="0"/>
              <a:t>.</a:t>
            </a:r>
          </a:p>
          <a:p>
            <a:r>
              <a:rPr lang="en-US" dirty="0"/>
              <a:t>In summary, we’ve built a strong foundation and shown promising results, and with further optimization, this protocol can become a practical solution for next-generation wireless networks.”</a:t>
            </a:r>
          </a:p>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Plus Jakarta Sans"/>
                <a:ea typeface="Plus Jakarta Sans"/>
                <a:cs typeface="Plus Jakarta Sans"/>
                <a:sym typeface="Plus Jakarta Sans"/>
              </a:rPr>
              <a:t>8</a:t>
            </a:fld>
            <a:endParaRPr lang="en-US" sz="1200" b="0" i="0" u="none" strike="noStrike" cap="none">
              <a:solidFill>
                <a:schemeClr val="dk1"/>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4191871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a:buNone/>
              <a:defRPr sz="2400" b="0" i="0" u="none" strike="noStrike" cap="none">
                <a:solidFill>
                  <a:srgbClr val="03769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9" name="Google Shape;29;g2f68141a545_0_445"/>
          <p:cNvPicPr preferRelativeResize="0"/>
          <p:nvPr/>
        </p:nvPicPr>
        <p:blipFill rotWithShape="1">
          <a:blip r:embed="rId2">
            <a:alphaModFix/>
          </a:blip>
          <a:src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alphaModFix/>
          </a:blip>
          <a:src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11">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2">
            <a:alphaModFix amt="20000"/>
          </a:blip>
          <a:srcRect l="1514" r="2310" b="19493"/>
          <a:stretch/>
        </p:blipFill>
        <p:spPr>
          <a:xfrm>
            <a:off x="-1235" y="35025"/>
            <a:ext cx="12193235" cy="67349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133754" y="4504626"/>
            <a:ext cx="2926946" cy="1169511"/>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 </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dk1"/>
                </a:solidFill>
                <a:latin typeface="Montserrat Medium"/>
                <a:sym typeface="Montserrat Medium"/>
              </a:rPr>
              <a:t>Kolla </a:t>
            </a:r>
            <a:r>
              <a:rPr lang="en-US" b="1" dirty="0" err="1">
                <a:solidFill>
                  <a:schemeClr val="dk1"/>
                </a:solidFill>
                <a:latin typeface="Montserrat Medium"/>
                <a:sym typeface="Montserrat Medium"/>
              </a:rPr>
              <a:t>Jairanjan</a:t>
            </a:r>
            <a:endParaRPr lang="en-US" sz="1400" b="1" i="0" u="none" strike="noStrike" cap="none" dirty="0">
              <a:solidFill>
                <a:schemeClr val="dk1"/>
              </a:solidFill>
              <a:latin typeface="Montserrat Medium"/>
              <a:ea typeface="Arial"/>
              <a:cs typeface="Arial"/>
              <a:sym typeface="Montserrat Medium"/>
            </a:endParaRPr>
          </a:p>
          <a:p>
            <a:pPr marL="285750" indent="-285750" algn="ctr">
              <a:buSzPts val="1400"/>
              <a:buFont typeface="Arial" panose="020B0604020202020204" pitchFamily="34" charset="0"/>
              <a:buChar char="•"/>
            </a:pPr>
            <a:r>
              <a:rPr lang="en-US" b="1" dirty="0">
                <a:solidFill>
                  <a:schemeClr val="dk1"/>
                </a:solidFill>
                <a:latin typeface="Montserrat Medium"/>
                <a:sym typeface="Montserrat Medium"/>
              </a:rPr>
              <a:t>Riya Magdum</a:t>
            </a:r>
            <a:endParaRPr lang="en-US" sz="1400" b="1" i="0" u="none" strike="noStrike" cap="none" dirty="0">
              <a:solidFill>
                <a:schemeClr val="dk1"/>
              </a:solidFill>
              <a:latin typeface="Arial"/>
              <a:ea typeface="Arial"/>
              <a:cs typeface="Arial"/>
              <a:sym typeface="Arial"/>
            </a:endParaRPr>
          </a:p>
          <a:p>
            <a:pPr algn="ctr">
              <a:buSzPts val="1400"/>
            </a:pPr>
            <a:endParaRPr lang="en-US" b="1" dirty="0">
              <a:solidFill>
                <a:schemeClr val="dk1"/>
              </a:solidFill>
              <a:latin typeface="Montserrat Medium"/>
              <a:sym typeface="Montserrat Medium"/>
            </a:endParaRP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a:ea typeface="Arial"/>
              <a:cs typeface="Arial"/>
              <a:sym typeface="Arial"/>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9322056" y="5040405"/>
            <a:ext cx="2926946"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dk1"/>
                </a:solidFill>
                <a:latin typeface="Montserrat Medium"/>
                <a:sym typeface="Montserrat Medium"/>
              </a:rPr>
              <a:t>Dr. Kamalanathan .C</a:t>
            </a:r>
            <a:r>
              <a:rPr lang="en-US" sz="1400" b="1" i="0" u="none" strike="noStrike" cap="none" dirty="0">
                <a:solidFill>
                  <a:schemeClr val="dk1"/>
                </a:solidFill>
                <a:latin typeface="Montserrat Medium"/>
                <a:ea typeface="Arial"/>
                <a:cs typeface="Arial"/>
                <a:sym typeface="Montserrat Medium"/>
              </a:rPr>
              <a:t> </a:t>
            </a: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In-charge: </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a:ea typeface="Arial"/>
                <a:cs typeface="Arial"/>
                <a:sym typeface="Montserrat Medium"/>
              </a:rPr>
              <a:t>Jaya Prakash Sahoo </a:t>
            </a:r>
            <a:endParaRPr lang="en-US" sz="1400" b="1" i="0" u="none" strike="noStrike" cap="none" dirty="0">
              <a:solidFill>
                <a:schemeClr val="dk1"/>
              </a:solidFill>
              <a:latin typeface="Arial"/>
              <a:ea typeface="Arial"/>
              <a:cs typeface="Arial"/>
              <a:sym typeface="Arial"/>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3">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2249424" y="264014"/>
            <a:ext cx="7296912" cy="1384954"/>
          </a:xfrm>
          <a:prstGeom prst="rect">
            <a:avLst/>
          </a:prstGeom>
          <a:noFill/>
          <a:ln>
            <a:noFill/>
          </a:ln>
        </p:spPr>
        <p:txBody>
          <a:bodyPr spcFirstLastPara="1" wrap="square" lIns="91425" tIns="45700" rIns="91425" bIns="45700" anchor="t" anchorCtr="0">
            <a:spAutoFit/>
          </a:bodyPr>
          <a:lstStyle/>
          <a:p>
            <a:pPr lvl="0" algn="ctr"/>
            <a:r>
              <a:rPr lang="en-US" sz="2800" b="1" dirty="0">
                <a:solidFill>
                  <a:srgbClr val="007069"/>
                </a:solidFill>
                <a:latin typeface="Open Sans"/>
                <a:ea typeface="Open Sans"/>
                <a:cs typeface="Open Sans"/>
              </a:rPr>
              <a:t>Optimized Multi-Hop Wireless Routing Protocol for Real Time Data Delivery in Dynamic Networks</a:t>
            </a:r>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9812887" y="141274"/>
            <a:ext cx="224536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Review-I</a:t>
            </a:r>
            <a:endParaRPr lang="en-US" sz="2000" i="1"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2025-26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a:ea typeface="Verdana"/>
                <a:cs typeface="Verdana"/>
                <a:sym typeface="Verdana"/>
              </a:rPr>
              <a:t>Capstone Project – </a:t>
            </a:r>
            <a:r>
              <a:rPr lang="en-US" sz="1800" b="1" dirty="0">
                <a:solidFill>
                  <a:schemeClr val="lt1"/>
                </a:solidFill>
                <a:latin typeface="Verdana"/>
                <a:ea typeface="Verdana"/>
                <a:cs typeface="Verdana"/>
                <a:sym typeface="Verdana"/>
              </a:rPr>
              <a:t>Introduction (PROJ2999)</a:t>
            </a:r>
            <a:endParaRPr lang="en-US" sz="1800" b="1" i="0" u="none" strike="noStrike" cap="none" dirty="0">
              <a:solidFill>
                <a:schemeClr val="lt1"/>
              </a:solidFill>
              <a:latin typeface="Verdana"/>
              <a:ea typeface="Verdana"/>
              <a:cs typeface="Verdana"/>
              <a:sym typeface="Verdana"/>
            </a:endParaRPr>
          </a:p>
        </p:txBody>
      </p:sp>
    </p:spTree>
    <p:extLst>
      <p:ext uri="{BB962C8B-B14F-4D97-AF65-F5344CB8AC3E}">
        <p14:creationId xmlns:p14="http://schemas.microsoft.com/office/powerpoint/2010/main" val="2901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Objective and Goals</a:t>
            </a:r>
            <a:endParaRPr dirty="0"/>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Objective </a:t>
            </a:r>
            <a:endParaRPr sz="1000" b="1" i="0" u="none" strike="noStrike" cap="none" dirty="0">
              <a:solidFill>
                <a:srgbClr val="000000"/>
              </a:solidFill>
              <a:latin typeface="Arial"/>
              <a:ea typeface="Arial"/>
              <a:cs typeface="Arial"/>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2353228"/>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Goals</a:t>
            </a:r>
            <a:endParaRPr sz="1000" b="1" i="0" u="none" strike="noStrike" cap="none" dirty="0">
              <a:solidFill>
                <a:srgbClr val="000000"/>
              </a:solidFill>
              <a:latin typeface="Arial"/>
              <a:ea typeface="Arial"/>
              <a:cs typeface="Arial"/>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1000124" y="1268361"/>
            <a:ext cx="9943179" cy="923330"/>
          </a:xfrm>
          <a:prstGeom prst="rect">
            <a:avLst/>
          </a:prstGeom>
          <a:noFill/>
        </p:spPr>
        <p:txBody>
          <a:bodyPr wrap="square" rtlCol="0">
            <a:spAutoFit/>
          </a:bodyPr>
          <a:lstStyle/>
          <a:p>
            <a:r>
              <a:rPr lang="en-US" sz="1800" dirty="0">
                <a:latin typeface="Verdana" panose="020B0604030504040204" pitchFamily="34" charset="0"/>
                <a:ea typeface="Verdana" panose="020B0604030504040204" pitchFamily="34" charset="0"/>
              </a:rPr>
              <a:t>To design and implement an optimized multi-hop wireless routing protocol that ensures </a:t>
            </a:r>
            <a:r>
              <a:rPr lang="en-US" sz="1800" b="1" dirty="0">
                <a:latin typeface="Verdana" panose="020B0604030504040204" pitchFamily="34" charset="0"/>
                <a:ea typeface="Verdana" panose="020B0604030504040204" pitchFamily="34" charset="0"/>
              </a:rPr>
              <a:t>low latency, high reliability, and energy-efficient real-time data delivery</a:t>
            </a:r>
            <a:r>
              <a:rPr lang="en-US" sz="1800" dirty="0">
                <a:latin typeface="Verdana" panose="020B0604030504040204" pitchFamily="34" charset="0"/>
                <a:ea typeface="Verdana" panose="020B0604030504040204" pitchFamily="34" charset="0"/>
              </a:rPr>
              <a:t> in dynamic wireless networks using NS-3 simulation.</a:t>
            </a:r>
          </a:p>
        </p:txBody>
      </p:sp>
      <p:sp>
        <p:nvSpPr>
          <p:cNvPr id="34" name="TextBox 33">
            <a:extLst>
              <a:ext uri="{FF2B5EF4-FFF2-40B4-BE49-F238E27FC236}">
                <a16:creationId xmlns:a16="http://schemas.microsoft.com/office/drawing/2014/main" id="{4A9AEFFB-1A20-899A-F8E0-29DEDB267EF4}"/>
              </a:ext>
            </a:extLst>
          </p:cNvPr>
          <p:cNvSpPr txBox="1"/>
          <p:nvPr/>
        </p:nvSpPr>
        <p:spPr>
          <a:xfrm>
            <a:off x="1000123" y="2816948"/>
            <a:ext cx="9943179" cy="3416320"/>
          </a:xfrm>
          <a:prstGeom prst="rect">
            <a:avLst/>
          </a:prstGeom>
          <a:noFill/>
        </p:spPr>
        <p:txBody>
          <a:bodyPr wrap="square" rtlCol="0">
            <a:spAutoFit/>
          </a:bodyPr>
          <a:lstStyle/>
          <a:p>
            <a:r>
              <a:rPr lang="en-IN" sz="1800" b="1" dirty="0">
                <a:latin typeface="Verdana" panose="020B0604030504040204" pitchFamily="34" charset="0"/>
                <a:ea typeface="Verdana" panose="020B0604030504040204" pitchFamily="34" charset="0"/>
              </a:rPr>
              <a:t>Main Goals </a:t>
            </a:r>
          </a:p>
          <a:p>
            <a:pPr marL="285750" indent="-285750">
              <a:buFont typeface="Arial" panose="020B0604020202020204" pitchFamily="34" charset="0"/>
              <a:buChar char="•"/>
            </a:pPr>
            <a:r>
              <a:rPr lang="en-US" sz="1800" dirty="0">
                <a:latin typeface="Verdana" panose="020B0604030504040204" pitchFamily="34" charset="0"/>
                <a:ea typeface="Verdana" panose="020B0604030504040204" pitchFamily="34" charset="0"/>
              </a:rPr>
              <a:t>Develop an optimized routing protocol for dynamic wireless networks.</a:t>
            </a:r>
            <a:endParaRPr lang="en-IN" sz="18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sz="1800" dirty="0">
                <a:latin typeface="Verdana" panose="020B0604030504040204" pitchFamily="34" charset="0"/>
                <a:ea typeface="Verdana" panose="020B0604030504040204" pitchFamily="34" charset="0"/>
              </a:rPr>
              <a:t>Minimize end-to-end delay and jitter for real-time communication.</a:t>
            </a:r>
            <a:endParaRPr lang="en-IN" sz="18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sz="1800" dirty="0">
                <a:latin typeface="Verdana" panose="020B0604030504040204" pitchFamily="34" charset="0"/>
                <a:ea typeface="Verdana" panose="020B0604030504040204" pitchFamily="34" charset="0"/>
              </a:rPr>
              <a:t>Improve packet delivery ratio (PDR) under high mobility conditions.</a:t>
            </a:r>
          </a:p>
          <a:p>
            <a:pPr marL="285750" indent="-285750">
              <a:buFont typeface="Arial" panose="020B0604020202020204" pitchFamily="34" charset="0"/>
              <a:buChar char="•"/>
            </a:pPr>
            <a:r>
              <a:rPr lang="en-US" sz="1800" dirty="0">
                <a:latin typeface="Verdana" panose="020B0604030504040204" pitchFamily="34" charset="0"/>
                <a:ea typeface="Verdana" panose="020B0604030504040204" pitchFamily="34" charset="0"/>
              </a:rPr>
              <a:t>Enhance throughput through adaptive multi-hop route selection.</a:t>
            </a:r>
          </a:p>
          <a:p>
            <a:pPr marL="285750" indent="-285750">
              <a:buFont typeface="Arial" panose="020B0604020202020204" pitchFamily="34" charset="0"/>
              <a:buChar char="•"/>
            </a:pPr>
            <a:r>
              <a:rPr lang="en-US" sz="1800" dirty="0">
                <a:latin typeface="Verdana" panose="020B0604030504040204" pitchFamily="34" charset="0"/>
                <a:ea typeface="Verdana" panose="020B0604030504040204" pitchFamily="34" charset="0"/>
              </a:rPr>
              <a:t>Ensure energy-efficient routing to extend network lifetime.</a:t>
            </a:r>
          </a:p>
          <a:p>
            <a:r>
              <a:rPr lang="en-IN" sz="1800" b="1" dirty="0">
                <a:latin typeface="Verdana" panose="020B0604030504040204" pitchFamily="34" charset="0"/>
                <a:ea typeface="Verdana" panose="020B0604030504040204" pitchFamily="34" charset="0"/>
              </a:rPr>
              <a:t>Additional Goals </a:t>
            </a:r>
          </a:p>
          <a:p>
            <a:pPr marL="285750" indent="-285750">
              <a:buFont typeface="Arial" panose="020B0604020202020204" pitchFamily="34" charset="0"/>
              <a:buChar char="•"/>
            </a:pPr>
            <a:r>
              <a:rPr lang="en-IN" sz="1800" dirty="0">
                <a:latin typeface="Verdana" panose="020B0604030504040204" pitchFamily="34" charset="0"/>
                <a:ea typeface="Verdana" panose="020B0604030504040204" pitchFamily="34" charset="0"/>
              </a:rPr>
              <a:t>Compare performance with existing protocols (AODV, DSR, OLSR).</a:t>
            </a:r>
          </a:p>
          <a:p>
            <a:pPr marL="285750" indent="-285750">
              <a:buFont typeface="Arial" panose="020B0604020202020204" pitchFamily="34" charset="0"/>
              <a:buChar char="•"/>
            </a:pPr>
            <a:r>
              <a:rPr lang="en-IN" sz="1800" dirty="0">
                <a:latin typeface="Verdana" panose="020B0604030504040204" pitchFamily="34" charset="0"/>
                <a:ea typeface="Verdana" panose="020B0604030504040204" pitchFamily="34" charset="0"/>
              </a:rPr>
              <a:t>Evaluate under different mobility and traffic models in NS-3.</a:t>
            </a:r>
          </a:p>
          <a:p>
            <a:pPr marL="285750" indent="-285750">
              <a:buFont typeface="Arial" panose="020B0604020202020204" pitchFamily="34" charset="0"/>
              <a:buChar char="•"/>
            </a:pPr>
            <a:r>
              <a:rPr lang="en-IN" sz="1800" dirty="0">
                <a:latin typeface="Verdana" panose="020B0604030504040204" pitchFamily="34" charset="0"/>
                <a:ea typeface="Verdana" panose="020B0604030504040204" pitchFamily="34" charset="0"/>
              </a:rPr>
              <a:t>Provide scalability and robustness for real-world applications (IoT, VANETs, disaster recovery).</a:t>
            </a:r>
          </a:p>
          <a:p>
            <a:endParaRPr lang="en-IN" sz="1800" dirty="0">
              <a:latin typeface="Verdana" panose="020B0604030504040204" pitchFamily="34" charset="0"/>
              <a:ea typeface="Verdana" panose="020B0604030504040204" pitchFamily="34"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Tree>
    <p:extLst>
      <p:ext uri="{BB962C8B-B14F-4D97-AF65-F5344CB8AC3E}">
        <p14:creationId xmlns:p14="http://schemas.microsoft.com/office/powerpoint/2010/main" val="142964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Project Plan</a:t>
            </a:r>
          </a:p>
          <a:p>
            <a:pPr marL="0" marR="0" lvl="0" indent="0" algn="ctr" rtl="0">
              <a:lnSpc>
                <a:spcPct val="100000"/>
              </a:lnSpc>
              <a:spcBef>
                <a:spcPts val="0"/>
              </a:spcBef>
              <a:spcAft>
                <a:spcPts val="0"/>
              </a:spcAft>
              <a:buNone/>
            </a:pPr>
            <a:endParaRPr dirty="0"/>
          </a:p>
        </p:txBody>
      </p:sp>
      <p:graphicFrame>
        <p:nvGraphicFramePr>
          <p:cNvPr id="11" name="Chart 10">
            <a:extLst>
              <a:ext uri="{FF2B5EF4-FFF2-40B4-BE49-F238E27FC236}">
                <a16:creationId xmlns:a16="http://schemas.microsoft.com/office/drawing/2014/main" id="{1AB1605E-955D-C586-A7C6-8B23B20A986B}"/>
              </a:ext>
            </a:extLst>
          </p:cNvPr>
          <p:cNvGraphicFramePr>
            <a:graphicFrameLocks/>
          </p:cNvGraphicFramePr>
          <p:nvPr>
            <p:extLst>
              <p:ext uri="{D42A27DB-BD31-4B8C-83A1-F6EECF244321}">
                <p14:modId xmlns:p14="http://schemas.microsoft.com/office/powerpoint/2010/main" val="2625068668"/>
              </p:ext>
            </p:extLst>
          </p:nvPr>
        </p:nvGraphicFramePr>
        <p:xfrm>
          <a:off x="1316736" y="797718"/>
          <a:ext cx="10094976" cy="526256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1631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838200" y="250707"/>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Literature Survey</a:t>
            </a:r>
            <a:endParaRPr dirty="0"/>
          </a:p>
        </p:txBody>
      </p:sp>
      <p:sp>
        <p:nvSpPr>
          <p:cNvPr id="5" name="Google Shape;125;p3">
            <a:extLst>
              <a:ext uri="{FF2B5EF4-FFF2-40B4-BE49-F238E27FC236}">
                <a16:creationId xmlns:a16="http://schemas.microsoft.com/office/drawing/2014/main" id="{189FAE14-3F2D-9B3A-FA7E-862D36BC1477}"/>
              </a:ext>
            </a:extLst>
          </p:cNvPr>
          <p:cNvSpPr txBox="1"/>
          <p:nvPr/>
        </p:nvSpPr>
        <p:spPr>
          <a:xfrm>
            <a:off x="432619" y="669464"/>
            <a:ext cx="11326761" cy="5630749"/>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Key Publications </a:t>
            </a:r>
          </a:p>
          <a:p>
            <a:pPr marL="285750" indent="-285750">
              <a:buFont typeface="Arial" panose="020B0604020202020204" pitchFamily="34" charset="0"/>
              <a:buChar char="•"/>
            </a:pPr>
            <a:r>
              <a:rPr lang="en-IN" dirty="0"/>
              <a:t>Abdollahi, Mahrokh, et al. "Dynamic routing protocol selection in multi-hop device-to-device wireless networks." IEEE Transactions on Vehicular Technology 71.8 (2022): 8796-8809.</a:t>
            </a:r>
          </a:p>
          <a:p>
            <a:pPr marL="285750" lvl="0" indent="-285750">
              <a:buFont typeface="Arial" panose="020B0604020202020204" pitchFamily="34" charset="0"/>
              <a:buChar char="•"/>
            </a:pPr>
            <a:r>
              <a:rPr lang="en-IN" dirty="0"/>
              <a:t>Nasri, Mohsen, et al. "Adaptive dynamic multi‐hop technique for clustering protocol in wireless sensor networks assisted‐Internet of Things applications." </a:t>
            </a:r>
            <a:r>
              <a:rPr lang="en-IN" i="1" dirty="0"/>
              <a:t>IET Networks</a:t>
            </a:r>
            <a:r>
              <a:rPr lang="en-IN" dirty="0"/>
              <a:t> 11.1 (2022): 27-41.</a:t>
            </a:r>
          </a:p>
          <a:p>
            <a:pPr marL="285750" lvl="0" indent="-285750">
              <a:buFont typeface="Arial" panose="020B0604020202020204" pitchFamily="34" charset="0"/>
              <a:buChar char="•"/>
            </a:pPr>
            <a:r>
              <a:rPr lang="en-IN" dirty="0" err="1"/>
              <a:t>Elhoseny</a:t>
            </a:r>
            <a:r>
              <a:rPr lang="en-IN" dirty="0"/>
              <a:t>, Mohamed, et al. "Dynamic multi-hop clustering in a wireless sensor network: Performance improvement." </a:t>
            </a:r>
            <a:r>
              <a:rPr lang="en-IN" i="1" dirty="0"/>
              <a:t>Wireless Personal Communications</a:t>
            </a:r>
            <a:r>
              <a:rPr lang="en-IN" dirty="0"/>
              <a:t> 95.4 (2017): 3733-3753.</a:t>
            </a:r>
          </a:p>
          <a:p>
            <a:pPr marL="285750" lvl="0" indent="-285750">
              <a:buFont typeface="Arial" panose="020B0604020202020204" pitchFamily="34" charset="0"/>
              <a:buChar char="•"/>
            </a:pPr>
            <a:r>
              <a:rPr lang="en-IN" dirty="0" err="1"/>
              <a:t>Tardioli</a:t>
            </a:r>
            <a:r>
              <a:rPr lang="en-IN" dirty="0"/>
              <a:t>, Danilo, Domenico Sicignano, and José Luis Villarroel. "A wireless multi-hop protocol for real-time applications." </a:t>
            </a:r>
            <a:r>
              <a:rPr lang="en-IN" i="1" dirty="0"/>
              <a:t>Computer Communications</a:t>
            </a:r>
            <a:r>
              <a:rPr lang="en-IN" dirty="0"/>
              <a:t> 55 (2015): 4-21</a:t>
            </a:r>
          </a:p>
          <a:p>
            <a:pPr marL="285750" lvl="0" indent="-285750">
              <a:buFont typeface="Arial" panose="020B0604020202020204" pitchFamily="34" charset="0"/>
              <a:buChar char="•"/>
            </a:pPr>
            <a:r>
              <a:rPr lang="en-IN" dirty="0"/>
              <a:t>Johnson, David B., David A. Maltz, and Josh Broch. "DSR: The dynamic source routing protocol for multi-hop wireless ad hoc networks." </a:t>
            </a:r>
            <a:r>
              <a:rPr lang="en-IN" i="1" dirty="0"/>
              <a:t>Ad hoc networking</a:t>
            </a:r>
            <a:r>
              <a:rPr lang="en-IN" dirty="0"/>
              <a:t> 5.1 (2001): 139-172.</a:t>
            </a:r>
          </a:p>
          <a:p>
            <a:pPr marL="285750" lvl="0" indent="-285750">
              <a:buFont typeface="Arial" panose="020B0604020202020204" pitchFamily="34" charset="0"/>
              <a:buChar char="•"/>
            </a:pPr>
            <a:r>
              <a:rPr lang="en-US" dirty="0"/>
              <a:t>Manoj, B. S., R. </a:t>
            </a:r>
            <a:r>
              <a:rPr lang="en-US" dirty="0" err="1"/>
              <a:t>Ananthapadmanabha</a:t>
            </a:r>
            <a:r>
              <a:rPr lang="en-US" dirty="0"/>
              <a:t>, and C. Siva Ram Murthy. "Multi-hop cellular networks: Architecture and protocols for best-effort and real-time communication." </a:t>
            </a:r>
            <a:r>
              <a:rPr lang="en-US" i="1" dirty="0"/>
              <a:t>Journal of Parallel and Distributed Computing</a:t>
            </a:r>
            <a:r>
              <a:rPr lang="en-US" dirty="0"/>
              <a:t> 65.6 (2005): 767-791.</a:t>
            </a:r>
            <a:endParaRPr lang="en-IN"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Key Resources</a:t>
            </a:r>
          </a:p>
          <a:p>
            <a:pPr marL="285750" marR="0" lvl="0" indent="-285750" rtl="0">
              <a:lnSpc>
                <a:spcPct val="100000"/>
              </a:lnSpc>
              <a:spcBef>
                <a:spcPts val="0"/>
              </a:spcBef>
              <a:spcAft>
                <a:spcPts val="0"/>
              </a:spcAft>
              <a:buFont typeface="Arial" panose="020B0604020202020204" pitchFamily="34" charset="0"/>
              <a:buChar char="•"/>
            </a:pPr>
            <a:r>
              <a:rPr lang="en-IN" dirty="0">
                <a:latin typeface="Verdana" panose="020B0604030504040204" pitchFamily="34" charset="0"/>
                <a:ea typeface="Verdana" panose="020B0604030504040204" pitchFamily="34" charset="0"/>
              </a:rPr>
              <a:t>RFC 6550 — RPL: IPv6 Routing Protocol for Low-Power and Lossy Networks → Core routing protocol for multi-hop IoT networks.</a:t>
            </a:r>
          </a:p>
          <a:p>
            <a:pPr marL="285750" marR="0" lvl="0" indent="-285750" rtl="0">
              <a:lnSpc>
                <a:spcPct val="100000"/>
              </a:lnSpc>
              <a:spcBef>
                <a:spcPts val="0"/>
              </a:spcBef>
              <a:spcAft>
                <a:spcPts val="0"/>
              </a:spcAft>
              <a:buFont typeface="Arial" panose="020B0604020202020204" pitchFamily="34" charset="0"/>
              <a:buChar char="•"/>
            </a:pPr>
            <a:r>
              <a:rPr lang="en-US" dirty="0">
                <a:latin typeface="Verdana" panose="020B0604030504040204" pitchFamily="34" charset="0"/>
                <a:ea typeface="Verdana" panose="020B0604030504040204" pitchFamily="34" charset="0"/>
              </a:rPr>
              <a:t>TI Application Note: Sub-1GHz Low-Cost Mesh Network Design Guide (TIDU546A) → Practical multi-hop mesh design + implementation guidance.</a:t>
            </a: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dirty="0">
                <a:latin typeface="Verdana" panose="020B0604030504040204" pitchFamily="34" charset="0"/>
                <a:ea typeface="Verdana" panose="020B0604030504040204" pitchFamily="34" charset="0"/>
              </a:rPr>
              <a:t>Microsoft Research Whitepaper: Routing in Multi-Radio, Multi-Hop Wireless Mesh Networks → Classic paper on throughput-aware multi-hop routing.</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Existing Implementations</a:t>
            </a:r>
          </a:p>
          <a:p>
            <a:pPr marL="285750" marR="0" lvl="0" indent="-285750" rtl="0">
              <a:lnSpc>
                <a:spcPct val="100000"/>
              </a:lnSpc>
              <a:spcBef>
                <a:spcPts val="0"/>
              </a:spcBef>
              <a:spcAft>
                <a:spcPts val="0"/>
              </a:spcAft>
              <a:buFont typeface="Arial" panose="020B0604020202020204" pitchFamily="34" charset="0"/>
              <a:buChar char="•"/>
            </a:pPr>
            <a:r>
              <a:rPr lang="en-IN" dirty="0" err="1">
                <a:latin typeface="Verdana" panose="020B0604030504040204" pitchFamily="34" charset="0"/>
                <a:ea typeface="Verdana" panose="020B0604030504040204" pitchFamily="34" charset="0"/>
              </a:rPr>
              <a:t>MeshCore</a:t>
            </a:r>
            <a:r>
              <a:rPr lang="en-IN" dirty="0">
                <a:latin typeface="Verdana" panose="020B0604030504040204" pitchFamily="34" charset="0"/>
                <a:ea typeface="Verdana" panose="020B0604030504040204" pitchFamily="34" charset="0"/>
              </a:rPr>
              <a:t> (</a:t>
            </a:r>
            <a:r>
              <a:rPr lang="en-IN" dirty="0" err="1">
                <a:latin typeface="Verdana" panose="020B0604030504040204" pitchFamily="34" charset="0"/>
                <a:ea typeface="Verdana" panose="020B0604030504040204" pitchFamily="34" charset="0"/>
              </a:rPr>
              <a:t>meshcore</a:t>
            </a:r>
            <a:r>
              <a:rPr lang="en-IN" dirty="0">
                <a:latin typeface="Verdana" panose="020B0604030504040204" pitchFamily="34" charset="0"/>
                <a:ea typeface="Verdana" panose="020B0604030504040204" pitchFamily="34" charset="0"/>
              </a:rPr>
              <a:t>-dev / </a:t>
            </a:r>
            <a:r>
              <a:rPr lang="en-IN" dirty="0" err="1">
                <a:latin typeface="Verdana" panose="020B0604030504040204" pitchFamily="34" charset="0"/>
                <a:ea typeface="Verdana" panose="020B0604030504040204" pitchFamily="34" charset="0"/>
              </a:rPr>
              <a:t>MeshCore</a:t>
            </a:r>
            <a:r>
              <a:rPr lang="en-IN" dirty="0">
                <a:latin typeface="Verdana" panose="020B0604030504040204" pitchFamily="34" charset="0"/>
                <a:ea typeface="Verdana" panose="020B0604030504040204" pitchFamily="34" charset="0"/>
              </a:rPr>
              <a:t>)</a:t>
            </a:r>
          </a:p>
          <a:p>
            <a:pPr marL="285750" marR="0" lvl="0" indent="-285750" rtl="0">
              <a:lnSpc>
                <a:spcPct val="100000"/>
              </a:lnSpc>
              <a:spcBef>
                <a:spcPts val="0"/>
              </a:spcBef>
              <a:spcAft>
                <a:spcPts val="0"/>
              </a:spcAft>
              <a:buFont typeface="Arial" panose="020B0604020202020204" pitchFamily="34" charset="0"/>
              <a:buChar char="•"/>
            </a:pPr>
            <a:r>
              <a:rPr lang="en-US" dirty="0">
                <a:latin typeface="Verdana" panose="020B0604030504040204" pitchFamily="34" charset="0"/>
                <a:ea typeface="Verdana" panose="020B0604030504040204" pitchFamily="34" charset="0"/>
              </a:rPr>
              <a:t>WING (Wireless Mesh Network for Next-Generation Internet)</a:t>
            </a: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IN" dirty="0">
                <a:latin typeface="Verdana" panose="020B0604030504040204" pitchFamily="34" charset="0"/>
                <a:ea typeface="Verdana" panose="020B0604030504040204" pitchFamily="34" charset="0"/>
              </a:rPr>
              <a:t>Intelli-Mesh (GitHub: </a:t>
            </a:r>
            <a:r>
              <a:rPr lang="en-IN" dirty="0" err="1">
                <a:latin typeface="Verdana" panose="020B0604030504040204" pitchFamily="34" charset="0"/>
                <a:ea typeface="Verdana" panose="020B0604030504040204" pitchFamily="34" charset="0"/>
              </a:rPr>
              <a:t>intelli</a:t>
            </a:r>
            <a:r>
              <a:rPr lang="en-IN" dirty="0">
                <a:latin typeface="Verdana" panose="020B0604030504040204" pitchFamily="34" charset="0"/>
                <a:ea typeface="Verdana" panose="020B0604030504040204" pitchFamily="34" charset="0"/>
              </a:rPr>
              <a:t>-mesh / Intelli-Mesh)</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8" name="Rectangle 2">
            <a:extLst>
              <a:ext uri="{FF2B5EF4-FFF2-40B4-BE49-F238E27FC236}">
                <a16:creationId xmlns:a16="http://schemas.microsoft.com/office/drawing/2014/main" id="{F5A357FD-048E-8BC3-D2DA-87FF490D4043}"/>
              </a:ext>
            </a:extLst>
          </p:cNvPr>
          <p:cNvSpPr>
            <a:spLocks noChangeArrowheads="1"/>
          </p:cNvSpPr>
          <p:nvPr/>
        </p:nvSpPr>
        <p:spPr bwMode="auto">
          <a:xfrm>
            <a:off x="4010025" y="33162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38241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Architecture  </a:t>
            </a:r>
            <a:endParaRPr dirty="0"/>
          </a:p>
        </p:txBody>
      </p:sp>
      <p:sp>
        <p:nvSpPr>
          <p:cNvPr id="5" name="Google Shape;125;p3">
            <a:extLst>
              <a:ext uri="{FF2B5EF4-FFF2-40B4-BE49-F238E27FC236}">
                <a16:creationId xmlns:a16="http://schemas.microsoft.com/office/drawing/2014/main" id="{11DCD2FE-F6D8-3416-49EA-CE0660F5B1E7}"/>
              </a:ext>
            </a:extLst>
          </p:cNvPr>
          <p:cNvSpPr txBox="1"/>
          <p:nvPr/>
        </p:nvSpPr>
        <p:spPr>
          <a:xfrm>
            <a:off x="379595" y="797525"/>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Structural Diagram</a:t>
            </a:r>
          </a:p>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Block Diagram</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7B3FE64C-ED43-A052-11E8-812792B8FDDF}"/>
              </a:ext>
            </a:extLst>
          </p:cNvPr>
          <p:cNvSpPr txBox="1">
            <a:spLocks/>
          </p:cNvSpPr>
          <p:nvPr/>
        </p:nvSpPr>
        <p:spPr>
          <a:xfrm>
            <a:off x="6257924" y="726132"/>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Behaviour Diagram</a:t>
            </a:r>
          </a:p>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Flow chart</a:t>
            </a:r>
          </a:p>
          <a:p>
            <a:pPr marL="0" marR="0" lvl="0" indent="0" rtl="0">
              <a:lnSpc>
                <a:spcPct val="100000"/>
              </a:lnSpc>
              <a:spcBef>
                <a:spcPts val="0"/>
              </a:spcBef>
              <a:spcAft>
                <a:spcPts val="0"/>
              </a:spcAft>
              <a:buNone/>
            </a:pPr>
            <a:endParaRPr lang="en-IN" sz="1200"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sz="1200"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 </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pic>
        <p:nvPicPr>
          <p:cNvPr id="3080" name="Picture 8">
            <a:extLst>
              <a:ext uri="{FF2B5EF4-FFF2-40B4-BE49-F238E27FC236}">
                <a16:creationId xmlns:a16="http://schemas.microsoft.com/office/drawing/2014/main" id="{ACB39DD9-FC62-C1CE-8B3F-47BECEC93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3223" y="1395541"/>
            <a:ext cx="5671106" cy="4520869"/>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1A22456C-EA2A-5535-3449-08E70707A2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595" y="1395541"/>
            <a:ext cx="5716405" cy="4539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9460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Use Cases &amp; Testing</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260EAF32-7213-2CCB-4658-501C4BEA8CF4}"/>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Verdana" panose="020B0604030504040204" pitchFamily="34" charset="0"/>
                <a:ea typeface="Verdana" panose="020B0604030504040204" pitchFamily="34" charset="0"/>
              </a:rPr>
              <a:t>Use Cases</a:t>
            </a:r>
          </a:p>
          <a:p>
            <a:pPr marL="0" marR="0" lvl="0" indent="0" rtl="0">
              <a:lnSpc>
                <a:spcPct val="100000"/>
              </a:lnSpc>
              <a:spcBef>
                <a:spcPts val="0"/>
              </a:spcBef>
              <a:spcAft>
                <a:spcPts val="0"/>
              </a:spcAft>
              <a:buNone/>
            </a:pPr>
            <a:endParaRPr lang="en-IN" sz="1800"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sz="1800"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sz="1800"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sz="1800" b="1"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IN" sz="1800" dirty="0">
                <a:latin typeface="Verdana" panose="020B0604030504040204" pitchFamily="34" charset="0"/>
                <a:ea typeface="Verdana" panose="020B0604030504040204" pitchFamily="34" charset="0"/>
              </a:rPr>
              <a:t>Real-Time Video Streaming</a:t>
            </a:r>
          </a:p>
          <a:p>
            <a:pPr marL="285750" marR="0" lvl="0" indent="-285750" rtl="0">
              <a:lnSpc>
                <a:spcPct val="100000"/>
              </a:lnSpc>
              <a:spcBef>
                <a:spcPts val="0"/>
              </a:spcBef>
              <a:spcAft>
                <a:spcPts val="0"/>
              </a:spcAft>
              <a:buFont typeface="Arial" panose="020B0604020202020204" pitchFamily="34" charset="0"/>
              <a:buChar char="•"/>
            </a:pPr>
            <a:r>
              <a:rPr lang="en-US" sz="1800" dirty="0">
                <a:latin typeface="Verdana" panose="020B0604030504040204" pitchFamily="34" charset="0"/>
                <a:ea typeface="Verdana" panose="020B0604030504040204" pitchFamily="34" charset="0"/>
              </a:rPr>
              <a:t>Vehicular Ad Hoc Networks (VANETs)</a:t>
            </a:r>
            <a:endParaRPr lang="en-IN" sz="1800"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IN" sz="1800" dirty="0">
                <a:latin typeface="Verdana" panose="020B0604030504040204" pitchFamily="34" charset="0"/>
                <a:ea typeface="Verdana" panose="020B0604030504040204" pitchFamily="34" charset="0"/>
              </a:rPr>
              <a:t>Disaster Management Communication</a:t>
            </a:r>
          </a:p>
          <a:p>
            <a:pPr marL="285750" marR="0" lvl="0" indent="-285750" rtl="0">
              <a:lnSpc>
                <a:spcPct val="100000"/>
              </a:lnSpc>
              <a:spcBef>
                <a:spcPts val="0"/>
              </a:spcBef>
              <a:spcAft>
                <a:spcPts val="0"/>
              </a:spcAft>
              <a:buFont typeface="Arial" panose="020B0604020202020204" pitchFamily="34" charset="0"/>
              <a:buChar char="•"/>
            </a:pPr>
            <a:r>
              <a:rPr lang="en-IN" sz="1800" dirty="0">
                <a:latin typeface="Verdana" panose="020B0604030504040204" pitchFamily="34" charset="0"/>
                <a:ea typeface="Verdana" panose="020B0604030504040204" pitchFamily="34" charset="0"/>
              </a:rPr>
              <a:t>IoT Sensor Data Collection</a:t>
            </a:r>
          </a:p>
          <a:p>
            <a:pPr marL="285750" marR="0" lvl="0" indent="-285750" rtl="0">
              <a:lnSpc>
                <a:spcPct val="100000"/>
              </a:lnSpc>
              <a:spcBef>
                <a:spcPts val="0"/>
              </a:spcBef>
              <a:spcAft>
                <a:spcPts val="0"/>
              </a:spcAft>
              <a:buFont typeface="Arial" panose="020B0604020202020204" pitchFamily="34" charset="0"/>
              <a:buChar char="•"/>
            </a:pPr>
            <a:r>
              <a:rPr lang="en-IN" sz="1800" dirty="0">
                <a:latin typeface="Verdana" panose="020B0604030504040204" pitchFamily="34" charset="0"/>
                <a:ea typeface="Verdana" panose="020B0604030504040204" pitchFamily="34" charset="0"/>
              </a:rPr>
              <a:t>Military Tactical Networks</a:t>
            </a:r>
          </a:p>
          <a:p>
            <a:pPr marL="285750" marR="0" lvl="0" indent="-285750" rtl="0">
              <a:lnSpc>
                <a:spcPct val="100000"/>
              </a:lnSpc>
              <a:spcBef>
                <a:spcPts val="0"/>
              </a:spcBef>
              <a:spcAft>
                <a:spcPts val="0"/>
              </a:spcAft>
              <a:buFont typeface="Arial" panose="020B0604020202020204" pitchFamily="34" charset="0"/>
              <a:buChar char="•"/>
            </a:pPr>
            <a:r>
              <a:rPr lang="en-IN" sz="1800" dirty="0">
                <a:latin typeface="Verdana" panose="020B0604030504040204" pitchFamily="34" charset="0"/>
                <a:ea typeface="Verdana" panose="020B0604030504040204" pitchFamily="34" charset="0"/>
              </a:rPr>
              <a:t>Smart City Applications</a:t>
            </a:r>
          </a:p>
          <a:p>
            <a:pPr marL="285750" marR="0" lvl="0" indent="-285750" rtl="0">
              <a:lnSpc>
                <a:spcPct val="100000"/>
              </a:lnSpc>
              <a:spcBef>
                <a:spcPts val="0"/>
              </a:spcBef>
              <a:spcAft>
                <a:spcPts val="0"/>
              </a:spcAft>
              <a:buFont typeface="Arial" panose="020B0604020202020204" pitchFamily="34" charset="0"/>
              <a:buChar char="•"/>
            </a:pPr>
            <a:endParaRPr lang="en-IN" sz="1800"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sz="1800"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Verdana" panose="020B0604030504040204" pitchFamily="34" charset="0"/>
                <a:ea typeface="Verdana" panose="020B0604030504040204" pitchFamily="34" charset="0"/>
              </a:rPr>
              <a:t>Test Cases </a:t>
            </a:r>
          </a:p>
          <a:p>
            <a:pPr marL="0" marR="0" lvl="0" indent="0" rtl="0">
              <a:lnSpc>
                <a:spcPct val="100000"/>
              </a:lnSpc>
              <a:spcBef>
                <a:spcPts val="0"/>
              </a:spcBef>
              <a:spcAft>
                <a:spcPts val="0"/>
              </a:spcAft>
              <a:buNone/>
            </a:pPr>
            <a:endParaRPr lang="en-IN" sz="1800"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sz="1800"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sz="1800"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sz="1800" b="1"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IN" sz="1800" dirty="0">
                <a:latin typeface="Verdana" panose="020B0604030504040204" pitchFamily="34" charset="0"/>
                <a:ea typeface="Verdana" panose="020B0604030504040204" pitchFamily="34" charset="0"/>
              </a:rPr>
              <a:t>Latency Test</a:t>
            </a:r>
          </a:p>
          <a:p>
            <a:pPr marL="285750" marR="0" lvl="0" indent="-285750" rtl="0">
              <a:lnSpc>
                <a:spcPct val="100000"/>
              </a:lnSpc>
              <a:spcBef>
                <a:spcPts val="0"/>
              </a:spcBef>
              <a:spcAft>
                <a:spcPts val="0"/>
              </a:spcAft>
              <a:buFont typeface="Arial" panose="020B0604020202020204" pitchFamily="34" charset="0"/>
              <a:buChar char="•"/>
            </a:pPr>
            <a:r>
              <a:rPr lang="en-US" sz="1800" dirty="0">
                <a:latin typeface="Verdana" panose="020B0604030504040204" pitchFamily="34" charset="0"/>
                <a:ea typeface="Verdana" panose="020B0604030504040204" pitchFamily="34" charset="0"/>
              </a:rPr>
              <a:t>Packet Delivery Ratio (PDR) Test</a:t>
            </a:r>
            <a:endParaRPr lang="en-IN" sz="1800"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IN" sz="1800" dirty="0">
                <a:latin typeface="Verdana" panose="020B0604030504040204" pitchFamily="34" charset="0"/>
                <a:ea typeface="Verdana" panose="020B0604030504040204" pitchFamily="34" charset="0"/>
              </a:rPr>
              <a:t>Throughput Test</a:t>
            </a:r>
          </a:p>
          <a:p>
            <a:pPr marL="285750" marR="0" lvl="0" indent="-285750" rtl="0">
              <a:lnSpc>
                <a:spcPct val="100000"/>
              </a:lnSpc>
              <a:spcBef>
                <a:spcPts val="0"/>
              </a:spcBef>
              <a:spcAft>
                <a:spcPts val="0"/>
              </a:spcAft>
              <a:buFont typeface="Arial" panose="020B0604020202020204" pitchFamily="34" charset="0"/>
              <a:buChar char="•"/>
            </a:pPr>
            <a:r>
              <a:rPr lang="en-IN" sz="1800" dirty="0">
                <a:latin typeface="Verdana" panose="020B0604030504040204" pitchFamily="34" charset="0"/>
                <a:ea typeface="Verdana" panose="020B0604030504040204" pitchFamily="34" charset="0"/>
              </a:rPr>
              <a:t>Jitter Test</a:t>
            </a:r>
          </a:p>
          <a:p>
            <a:pPr marL="285750" marR="0" lvl="0" indent="-285750" rtl="0">
              <a:lnSpc>
                <a:spcPct val="100000"/>
              </a:lnSpc>
              <a:spcBef>
                <a:spcPts val="0"/>
              </a:spcBef>
              <a:spcAft>
                <a:spcPts val="0"/>
              </a:spcAft>
              <a:buFont typeface="Arial" panose="020B0604020202020204" pitchFamily="34" charset="0"/>
              <a:buChar char="•"/>
            </a:pPr>
            <a:r>
              <a:rPr lang="en-IN" sz="1800" dirty="0">
                <a:latin typeface="Verdana" panose="020B0604030504040204" pitchFamily="34" charset="0"/>
                <a:ea typeface="Verdana" panose="020B0604030504040204" pitchFamily="34" charset="0"/>
              </a:rPr>
              <a:t>Energy Consumption Test</a:t>
            </a:r>
          </a:p>
          <a:p>
            <a:pPr marL="285750" marR="0" lvl="0" indent="-285750" rtl="0">
              <a:lnSpc>
                <a:spcPct val="100000"/>
              </a:lnSpc>
              <a:spcBef>
                <a:spcPts val="0"/>
              </a:spcBef>
              <a:spcAft>
                <a:spcPts val="0"/>
              </a:spcAft>
              <a:buFont typeface="Arial" panose="020B0604020202020204" pitchFamily="34" charset="0"/>
              <a:buChar char="•"/>
            </a:pPr>
            <a:r>
              <a:rPr lang="en-IN" sz="1800" dirty="0">
                <a:latin typeface="Verdana" panose="020B0604030504040204" pitchFamily="34" charset="0"/>
                <a:ea typeface="Verdana" panose="020B0604030504040204" pitchFamily="34" charset="0"/>
              </a:rPr>
              <a:t>Scalability</a:t>
            </a:r>
            <a:r>
              <a:rPr lang="en-IN" sz="1800" b="1" dirty="0"/>
              <a:t> </a:t>
            </a:r>
            <a:r>
              <a:rPr lang="en-IN" sz="1800" dirty="0">
                <a:latin typeface="Verdana" panose="020B0604030504040204" pitchFamily="34" charset="0"/>
                <a:ea typeface="Verdana" panose="020B0604030504040204" pitchFamily="34" charset="0"/>
              </a:rPr>
              <a:t>Test</a:t>
            </a:r>
          </a:p>
          <a:p>
            <a:pPr marL="285750" marR="0" lvl="0" indent="-285750" rtl="0">
              <a:lnSpc>
                <a:spcPct val="100000"/>
              </a:lnSpc>
              <a:spcBef>
                <a:spcPts val="0"/>
              </a:spcBef>
              <a:spcAft>
                <a:spcPts val="0"/>
              </a:spcAft>
              <a:buFont typeface="Arial" panose="020B0604020202020204" pitchFamily="34" charset="0"/>
              <a:buChar char="•"/>
            </a:pPr>
            <a:endParaRPr lang="en-IN"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95428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34FA3-E2A9-CFD9-25B9-C2A31211196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841631-B4D6-A065-B55D-AF5E6272A5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
        <p:nvSpPr>
          <p:cNvPr id="4" name="Google Shape;125;p3">
            <a:extLst>
              <a:ext uri="{FF2B5EF4-FFF2-40B4-BE49-F238E27FC236}">
                <a16:creationId xmlns:a16="http://schemas.microsoft.com/office/drawing/2014/main" id="{3E778A93-98DA-B86E-0F42-C670B87E1C31}"/>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dirty="0">
                <a:latin typeface="Montserrat"/>
                <a:sym typeface="Montserrat"/>
              </a:rPr>
              <a:t>Implementation and Results – Iteration 1</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04F5F090-6709-B902-F10B-748A79AA475E}"/>
              </a:ext>
            </a:extLst>
          </p:cNvPr>
          <p:cNvSpPr txBox="1"/>
          <p:nvPr/>
        </p:nvSpPr>
        <p:spPr>
          <a:xfrm>
            <a:off x="452284" y="788096"/>
            <a:ext cx="11261180" cy="5735761"/>
          </a:xfrm>
          <a:prstGeom prst="rect">
            <a:avLst/>
          </a:prstGeom>
          <a:noFill/>
          <a:ln>
            <a:noFill/>
          </a:ln>
        </p:spPr>
        <p:txBody>
          <a:bodyPr spcFirstLastPara="1" wrap="square" lIns="91425" tIns="45700" rIns="91425" bIns="45700" anchor="t" anchorCtr="0">
            <a:noAutofit/>
          </a:bodyPr>
          <a:lstStyle/>
          <a:p>
            <a:r>
              <a:rPr lang="en-IN" b="1" dirty="0"/>
              <a:t> Performance Comparison</a:t>
            </a:r>
            <a:endParaRPr lang="en-IN" dirty="0"/>
          </a:p>
          <a:p>
            <a:br>
              <a:rPr lang="en-IN" dirty="0"/>
            </a:br>
            <a:endParaRPr lang="en-IN" dirty="0"/>
          </a:p>
          <a:p>
            <a:r>
              <a:rPr lang="en-IN" dirty="0"/>
              <a:t>| Metric                         | RT-MHR | AODV | OLSR | DSR  |</a:t>
            </a:r>
          </a:p>
          <a:p>
            <a:r>
              <a:rPr lang="en-IN" dirty="0"/>
              <a:t>| </a:t>
            </a:r>
            <a:r>
              <a:rPr lang="en-IN" dirty="0" err="1"/>
              <a:t>Avg</a:t>
            </a:r>
            <a:r>
              <a:rPr lang="en-IN" dirty="0"/>
              <a:t> Latency (</a:t>
            </a:r>
            <a:r>
              <a:rPr lang="en-IN" dirty="0" err="1"/>
              <a:t>ms</a:t>
            </a:r>
            <a:r>
              <a:rPr lang="en-IN" dirty="0"/>
              <a:t>)       | 45.2        | 62.8 |    58.1 |    71.3 |</a:t>
            </a:r>
          </a:p>
          <a:p>
            <a:r>
              <a:rPr lang="en-IN" dirty="0"/>
              <a:t>| PDR (%)                     | 94.7        | 89.2 |    91.5 |   87.8 |</a:t>
            </a:r>
          </a:p>
          <a:p>
            <a:r>
              <a:rPr lang="en-IN" dirty="0"/>
              <a:t>| Control Overhead (%)|  3.2         | 4.8   |     6.1  |   5.4  |</a:t>
            </a:r>
          </a:p>
          <a:p>
            <a:r>
              <a:rPr lang="en-IN" dirty="0"/>
              <a:t>| Recovery Time (</a:t>
            </a:r>
            <a:r>
              <a:rPr lang="en-IN" dirty="0" err="1"/>
              <a:t>ms</a:t>
            </a:r>
            <a:r>
              <a:rPr lang="en-IN" dirty="0"/>
              <a:t>)   | 180         | 850  |    920  |  1200 |</a:t>
            </a:r>
          </a:p>
          <a:p>
            <a:endParaRPr lang="en-IN"/>
          </a:p>
          <a:p>
            <a:br>
              <a:rPr lang="en-IN" dirty="0"/>
            </a:br>
            <a:endParaRPr lang="en-IN" dirty="0"/>
          </a:p>
          <a:p>
            <a:r>
              <a:rPr lang="en-IN" b="1" dirty="0"/>
              <a:t>Scalability Results</a:t>
            </a:r>
            <a:endParaRPr lang="en-IN" dirty="0"/>
          </a:p>
          <a:p>
            <a:br>
              <a:rPr lang="en-IN" dirty="0"/>
            </a:br>
            <a:endParaRPr lang="en-IN" dirty="0"/>
          </a:p>
          <a:p>
            <a:r>
              <a:rPr lang="en-IN" dirty="0"/>
              <a:t>RT-MHR maintains consistent performance across different network sizes:</a:t>
            </a:r>
          </a:p>
          <a:p>
            <a:br>
              <a:rPr lang="en-IN" dirty="0"/>
            </a:br>
            <a:endParaRPr lang="en-IN" dirty="0"/>
          </a:p>
          <a:p>
            <a:r>
              <a:rPr lang="en-IN" dirty="0"/>
              <a:t>- </a:t>
            </a:r>
            <a:r>
              <a:rPr lang="en-IN" b="1" dirty="0"/>
              <a:t>**30 nodes**</a:t>
            </a:r>
            <a:r>
              <a:rPr lang="en-IN" dirty="0"/>
              <a:t>: 95.2% PDR, 42ms latency</a:t>
            </a:r>
          </a:p>
          <a:p>
            <a:r>
              <a:rPr lang="en-IN" dirty="0"/>
              <a:t>- </a:t>
            </a:r>
            <a:r>
              <a:rPr lang="en-IN" b="1" dirty="0"/>
              <a:t>**50 nodes**</a:t>
            </a:r>
            <a:r>
              <a:rPr lang="en-IN" dirty="0"/>
              <a:t>: 94.7% PDR, 45ms latency</a:t>
            </a:r>
          </a:p>
          <a:p>
            <a:r>
              <a:rPr lang="en-IN" dirty="0"/>
              <a:t>- </a:t>
            </a:r>
            <a:r>
              <a:rPr lang="en-IN" b="1" dirty="0"/>
              <a:t>**70 nodes**</a:t>
            </a:r>
            <a:r>
              <a:rPr lang="en-IN" dirty="0"/>
              <a:t>: 93.8% PDR, 48ms latency</a:t>
            </a:r>
          </a:p>
          <a:p>
            <a:r>
              <a:rPr lang="en-IN" dirty="0"/>
              <a:t>- </a:t>
            </a:r>
            <a:r>
              <a:rPr lang="en-IN" b="1" dirty="0"/>
              <a:t>**100 nodes**</a:t>
            </a:r>
            <a:r>
              <a:rPr lang="en-IN" dirty="0"/>
              <a:t>: 92.4% PDR, 52ms latency</a:t>
            </a:r>
          </a:p>
        </p:txBody>
      </p:sp>
      <p:pic>
        <p:nvPicPr>
          <p:cNvPr id="6" name="Picture 5">
            <a:extLst>
              <a:ext uri="{FF2B5EF4-FFF2-40B4-BE49-F238E27FC236}">
                <a16:creationId xmlns:a16="http://schemas.microsoft.com/office/drawing/2014/main" id="{94C5EE94-A7CF-C95F-1A0D-E37EC2060F1F}"/>
              </a:ext>
            </a:extLst>
          </p:cNvPr>
          <p:cNvPicPr>
            <a:picLocks noChangeAspect="1"/>
          </p:cNvPicPr>
          <p:nvPr/>
        </p:nvPicPr>
        <p:blipFill>
          <a:blip r:embed="rId3"/>
          <a:stretch>
            <a:fillRect/>
          </a:stretch>
        </p:blipFill>
        <p:spPr>
          <a:xfrm>
            <a:off x="6638544" y="1377982"/>
            <a:ext cx="4812898" cy="2618512"/>
          </a:xfrm>
          <a:prstGeom prst="rect">
            <a:avLst/>
          </a:prstGeom>
        </p:spPr>
      </p:pic>
    </p:spTree>
    <p:extLst>
      <p:ext uri="{BB962C8B-B14F-4D97-AF65-F5344CB8AC3E}">
        <p14:creationId xmlns:p14="http://schemas.microsoft.com/office/powerpoint/2010/main" val="1666970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Conclusion &amp; Future Work</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Summary and Conclusion </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dirty="0">
                <a:latin typeface="Verdana" panose="020B0604030504040204" pitchFamily="34" charset="0"/>
                <a:ea typeface="Verdana" panose="020B0604030504040204" pitchFamily="34" charset="0"/>
              </a:rPr>
              <a:t>This project focuses on designing and implementing an Optimized Multi-Hop Wireless Routing Protocol aimed at efficient real-time data delivery in dynamic networks. The protocol is developed to handle high mobility and frequent topology changes while minimizing latency and packet loss. A working prototype has been successfully implemented and tested on NS-3, demonstrating the protocol's functionality in simulated network environments. While preliminary results indicate that the protocol can handle dynamic routing scenarios effectively, the performance metrics have not yet surpassed those of existing state-of-the-art routing protocols, highlighting the need for further optimization.</a:t>
            </a: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Future Work</a:t>
            </a:r>
          </a:p>
          <a:p>
            <a:endParaRPr lang="en-IN" b="1" dirty="0">
              <a:latin typeface="Verdana" panose="020B0604030504040204" pitchFamily="34" charset="0"/>
              <a:ea typeface="Verdana" panose="020B0604030504040204" pitchFamily="34" charset="0"/>
            </a:endParaRPr>
          </a:p>
          <a:p>
            <a:r>
              <a:rPr lang="en-US" dirty="0">
                <a:latin typeface="Verdana" panose="020B0604030504040204" pitchFamily="34" charset="0"/>
                <a:ea typeface="Verdana" panose="020B0604030504040204" pitchFamily="34" charset="0"/>
              </a:rPr>
              <a:t>Future work will focus on enhancing the protocol's efficiency and reliability by incorporating advanced metrics for route selection, such as link stability, congestion awareness, and energy consumption. Additional simulation scenarios with larger and more heterogeneous networks will be conducted to evaluate scalability and robustness. The ultimate goal is to optimize the protocol to consistently outperform existing solutions in terms of throughput, latency, and packet delivery ratio, making it suitable for real-world deployment in dynamic wireless network environments.</a:t>
            </a:r>
            <a:endParaRPr lang="en-IN" dirty="0">
              <a:latin typeface="Verdana" panose="020B0604030504040204" pitchFamily="34" charset="0"/>
              <a:ea typeface="Verdana" panose="020B0604030504040204" pitchFamily="34" charset="0"/>
            </a:endParaRPr>
          </a:p>
          <a:p>
            <a:endParaRPr lang="en-IN" b="1"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67826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a:solidFill>
                  <a:srgbClr val="007069"/>
                </a:solidFill>
                <a:latin typeface="Open Sans"/>
                <a:ea typeface="Open Sans"/>
                <a:cs typeface="Open Sans"/>
                <a:sym typeface="Open Sans"/>
              </a:rPr>
              <a:t>THANK </a:t>
            </a:r>
            <a:r>
              <a:rPr lang="en-US" sz="11500" b="1" i="0" u="none" strike="noStrike" cap="none">
                <a:solidFill>
                  <a:srgbClr val="A5A5A5"/>
                </a:solidFill>
                <a:latin typeface="Open Sans"/>
                <a:ea typeface="Open Sans"/>
                <a:cs typeface="Open Sans"/>
                <a:sym typeface="Open Sans"/>
              </a:rPr>
              <a:t>YOU</a:t>
            </a:r>
            <a:endParaRPr sz="1400" b="0" i="0" u="none" strike="noStrike" cap="none">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2668</TotalTime>
  <Words>1062</Words>
  <Application>Microsoft Office PowerPoint</Application>
  <PresentationFormat>Widescreen</PresentationFormat>
  <Paragraphs>135</Paragraphs>
  <Slides>9</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Poppins SemiBold</vt:lpstr>
      <vt:lpstr>Montserrat Medium</vt:lpstr>
      <vt:lpstr>Montserrat</vt:lpstr>
      <vt:lpstr>Verdana</vt:lpstr>
      <vt:lpstr>Calibri</vt:lpstr>
      <vt:lpstr>Aharoni</vt:lpstr>
      <vt:lpstr>Open Sans</vt:lpstr>
      <vt:lpstr>Arial</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Riya Magdum</cp:lastModifiedBy>
  <cp:revision>43</cp:revision>
  <dcterms:created xsi:type="dcterms:W3CDTF">2022-05-23T07:15:42Z</dcterms:created>
  <dcterms:modified xsi:type="dcterms:W3CDTF">2025-11-24T10:16:19Z</dcterms:modified>
</cp:coreProperties>
</file>